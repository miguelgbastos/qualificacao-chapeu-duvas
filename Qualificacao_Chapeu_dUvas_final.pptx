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5adec71394e44" /><Relationship Type="http://schemas.openxmlformats.org/officeDocument/2006/relationships/extended-properties" Target="/docProps/app.xml" Id="R3608027fc91f49fc" /><Relationship Type="http://schemas.openxmlformats.org/officeDocument/2006/relationships/officeDocument" Target="/ppt/presentation.xml" Id="R8373926ec9154f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d1c4eae4c480f"/>
  </p:sldMasterIdLst>
  <p:notesMasterIdLst>
    <p:notesMasterId xmlns:r="http://schemas.openxmlformats.org/officeDocument/2006/relationships" r:id="Ra7244433c9ab48a0"/>
  </p:notesMasterIdLst>
  <p:sldIdLst>
    <p:sldId xmlns:r="http://schemas.openxmlformats.org/officeDocument/2006/relationships" id="256" r:id="Rd078e13fb6db44fe"/>
    <p:sldId xmlns:r="http://schemas.openxmlformats.org/officeDocument/2006/relationships" id="257" r:id="R3aae390bd3ec449c"/>
    <p:sldId xmlns:r="http://schemas.openxmlformats.org/officeDocument/2006/relationships" id="258" r:id="Ra869153af6814137"/>
    <p:sldId xmlns:r="http://schemas.openxmlformats.org/officeDocument/2006/relationships" id="259" r:id="Re90157176dbd4b28"/>
    <p:sldId xmlns:r="http://schemas.openxmlformats.org/officeDocument/2006/relationships" id="260" r:id="Rb07902b8f69841f4"/>
    <p:sldId xmlns:r="http://schemas.openxmlformats.org/officeDocument/2006/relationships" id="261" r:id="R771304ce067147ad"/>
    <p:sldId xmlns:r="http://schemas.openxmlformats.org/officeDocument/2006/relationships" id="262" r:id="R24e1912dfc194b87"/>
    <p:sldId xmlns:r="http://schemas.openxmlformats.org/officeDocument/2006/relationships" id="263" r:id="Reded8e80f662494f"/>
    <p:sldId xmlns:r="http://schemas.openxmlformats.org/officeDocument/2006/relationships" id="264" r:id="R7e9eb99d07c144e9"/>
    <p:sldId xmlns:r="http://schemas.openxmlformats.org/officeDocument/2006/relationships" id="265" r:id="Rb1713f20513a44b4"/>
    <p:sldId xmlns:r="http://schemas.openxmlformats.org/officeDocument/2006/relationships" id="266" r:id="R352499a69b2949f4"/>
    <p:sldId xmlns:r="http://schemas.openxmlformats.org/officeDocument/2006/relationships" id="267" r:id="R2df58e761c834059"/>
    <p:sldId xmlns:r="http://schemas.openxmlformats.org/officeDocument/2006/relationships" id="268" r:id="R54e0115fc5ed4f0c"/>
    <p:sldId xmlns:r="http://schemas.openxmlformats.org/officeDocument/2006/relationships" id="269" r:id="R6d3a28ee8a7c42fa"/>
    <p:sldId xmlns:r="http://schemas.openxmlformats.org/officeDocument/2006/relationships" id="270" r:id="R28de8976717f4a56"/>
    <p:sldId xmlns:r="http://schemas.openxmlformats.org/officeDocument/2006/relationships" id="271" r:id="Raa927a81059243e6"/>
    <p:sldId xmlns:r="http://schemas.openxmlformats.org/officeDocument/2006/relationships" id="272" r:id="Rfadc3a8e41c44b3b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691b6767c845e7" /><Relationship Type="http://schemas.openxmlformats.org/officeDocument/2006/relationships/slideMaster" Target="/ppt/slideMasters/slideMaster1.xml" Id="R89ad1c4eae4c480f" /><Relationship Type="http://schemas.openxmlformats.org/officeDocument/2006/relationships/notesMaster" Target="/ppt/notesMasters/notesMaster1.xml" Id="Ra7244433c9ab48a0" /><Relationship Type="http://schemas.openxmlformats.org/officeDocument/2006/relationships/presProps" Target="/ppt/presProps.xml" Id="R3ae4e0fb69da4110" /><Relationship Type="http://schemas.openxmlformats.org/officeDocument/2006/relationships/viewProps" Target="/ppt/viewProps.xml" Id="Rb3f00ddf87314951" /><Relationship Type="http://schemas.openxmlformats.org/officeDocument/2006/relationships/tableStyles" Target="/ppt/tableStyles.xml" Id="Rd1d2d1d662f8489f" /><Relationship Type="http://schemas.openxmlformats.org/officeDocument/2006/relationships/slide" Target="/ppt/slides/slide1.xml" Id="Rd078e13fb6db44fe" /><Relationship Type="http://schemas.openxmlformats.org/officeDocument/2006/relationships/slide" Target="/ppt/slides/slide2.xml" Id="R3aae390bd3ec449c" /><Relationship Type="http://schemas.openxmlformats.org/officeDocument/2006/relationships/slide" Target="/ppt/slides/slide3.xml" Id="Ra869153af6814137" /><Relationship Type="http://schemas.openxmlformats.org/officeDocument/2006/relationships/slide" Target="/ppt/slides/slide4.xml" Id="Re90157176dbd4b28" /><Relationship Type="http://schemas.openxmlformats.org/officeDocument/2006/relationships/slide" Target="/ppt/slides/slide5.xml" Id="Rb07902b8f69841f4" /><Relationship Type="http://schemas.openxmlformats.org/officeDocument/2006/relationships/slide" Target="/ppt/slides/slide6.xml" Id="R771304ce067147ad" /><Relationship Type="http://schemas.openxmlformats.org/officeDocument/2006/relationships/slide" Target="/ppt/slides/slide7.xml" Id="R24e1912dfc194b87" /><Relationship Type="http://schemas.openxmlformats.org/officeDocument/2006/relationships/slide" Target="/ppt/slides/slide8.xml" Id="Reded8e80f662494f" /><Relationship Type="http://schemas.openxmlformats.org/officeDocument/2006/relationships/slide" Target="/ppt/slides/slide9.xml" Id="R7e9eb99d07c144e9" /><Relationship Type="http://schemas.openxmlformats.org/officeDocument/2006/relationships/slide" Target="/ppt/slides/slide10.xml" Id="Rb1713f20513a44b4" /><Relationship Type="http://schemas.openxmlformats.org/officeDocument/2006/relationships/slide" Target="/ppt/slides/slide11.xml" Id="R352499a69b2949f4" /><Relationship Type="http://schemas.openxmlformats.org/officeDocument/2006/relationships/slide" Target="/ppt/slides/slide12.xml" Id="R2df58e761c834059" /><Relationship Type="http://schemas.openxmlformats.org/officeDocument/2006/relationships/slide" Target="/ppt/slides/slide13.xml" Id="R54e0115fc5ed4f0c" /><Relationship Type="http://schemas.openxmlformats.org/officeDocument/2006/relationships/slide" Target="/ppt/slides/slide14.xml" Id="R6d3a28ee8a7c42fa" /><Relationship Type="http://schemas.openxmlformats.org/officeDocument/2006/relationships/slide" Target="/ppt/slides/slide15.xml" Id="R28de8976717f4a56" /><Relationship Type="http://schemas.openxmlformats.org/officeDocument/2006/relationships/slide" Target="/ppt/slides/slide16.xml" Id="Raa927a81059243e6" /><Relationship Type="http://schemas.openxmlformats.org/officeDocument/2006/relationships/slide" Target="/ppt/slides/slide17.xml" Id="Rfadc3a8e41c4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1889f9277746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ualificação – Modelagem hidrológica da barragem Chapéu d’Uvas">
  <a:themeElements>
    <a:clrScheme name="Qualificação – Modelagem hidrológica da barragem Chapéu d’Uvas">
      <a:dk1>
        <a:srgbClr val="1B1F24"/>
      </a:dk1>
      <a:lt1>
        <a:srgbClr val="F8F6F0"/>
      </a:lt1>
      <a:dk2>
        <a:srgbClr val="525557"/>
      </a:dk2>
      <a:lt2>
        <a:srgbClr val="E2E1DC"/>
      </a:lt2>
      <a:accent1>
        <a:srgbClr val="10294A"/>
      </a:accent1>
      <a:accent2>
        <a:srgbClr val="9A6B12"/>
      </a:accent2>
      <a:accent3>
        <a:srgbClr val="E3B65A"/>
      </a:accent3>
      <a:accent4>
        <a:srgbClr val="C28F2C"/>
      </a:accent4>
      <a:accent5>
        <a:srgbClr val="D5D9DF"/>
      </a:accent5>
      <a:accent6>
        <a:srgbClr val="5E6670"/>
      </a:accent6>
      <a:hlink>
        <a:srgbClr val="0563C1"/>
      </a:hlink>
      <a:folHlink>
        <a:srgbClr val="954F72"/>
      </a:folHlink>
    </a:clrScheme>
    <a:fontScheme name="Qualificação – Modelagem hidrológica da barragem Chapéu d’Uva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lificação – Modelagem hidrológica da barragem Chapéu d’Uv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86502a6f845d4" /><Relationship Type="http://schemas.openxmlformats.org/officeDocument/2006/relationships/notesMaster" Target="/ppt/notesMasters/notesMaster1.xml" Id="Ra54e7cecbb25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f062700b6f4b27" /><Relationship Type="http://schemas.openxmlformats.org/officeDocument/2006/relationships/notesMaster" Target="/ppt/notesMasters/notesMaster1.xml" Id="R06651a81b9ec40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e4f6a6884f4eb7" /><Relationship Type="http://schemas.openxmlformats.org/officeDocument/2006/relationships/notesMaster" Target="/ppt/notesMasters/notesMaster1.xml" Id="Rd1a7cf058e2843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54fff22a194523" /><Relationship Type="http://schemas.openxmlformats.org/officeDocument/2006/relationships/notesMaster" Target="/ppt/notesMasters/notesMaster1.xml" Id="Rd0ca1c9a5a5748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529153d7dc400c" /><Relationship Type="http://schemas.openxmlformats.org/officeDocument/2006/relationships/notesMaster" Target="/ppt/notesMasters/notesMaster1.xml" Id="Rd5d095fbe7af49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7f36e887304af4" /><Relationship Type="http://schemas.openxmlformats.org/officeDocument/2006/relationships/notesMaster" Target="/ppt/notesMasters/notesMaster1.xml" Id="Rc31c8fe3755c45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cdb8cab45464d" /><Relationship Type="http://schemas.openxmlformats.org/officeDocument/2006/relationships/notesMaster" Target="/ppt/notesMasters/notesMaster1.xml" Id="Rc8b6133490e4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7915dc725f476a" /><Relationship Type="http://schemas.openxmlformats.org/officeDocument/2006/relationships/notesMaster" Target="/ppt/notesMasters/notesMaster1.xml" Id="R5454519e34864c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f8c7a01c144abc" /><Relationship Type="http://schemas.openxmlformats.org/officeDocument/2006/relationships/notesMaster" Target="/ppt/notesMasters/notesMaster1.xml" Id="R4eff38c9eb3f4a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a291bb4a4447ce" /><Relationship Type="http://schemas.openxmlformats.org/officeDocument/2006/relationships/notesMaster" Target="/ppt/notesMasters/notesMaster1.xml" Id="Rdd8c4398249f46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8162b416ad40cf" /><Relationship Type="http://schemas.openxmlformats.org/officeDocument/2006/relationships/notesMaster" Target="/ppt/notesMasters/notesMaster1.xml" Id="Rebf876b6413e41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cec09cef364bf9" /><Relationship Type="http://schemas.openxmlformats.org/officeDocument/2006/relationships/notesMaster" Target="/ppt/notesMasters/notesMaster1.xml" Id="Ra69a45a187e349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625a314ff3447ae" /><Relationship Type="http://schemas.openxmlformats.org/officeDocument/2006/relationships/notesMaster" Target="/ppt/notesMasters/notesMaster1.xml" Id="Rcd6cf069e7334f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a73d93e6a34343" /><Relationship Type="http://schemas.openxmlformats.org/officeDocument/2006/relationships/notesMaster" Target="/ppt/notesMasters/notesMaster1.xml" Id="Ra283ef50475744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a74c7cd70943df" /><Relationship Type="http://schemas.openxmlformats.org/officeDocument/2006/relationships/notesMaster" Target="/ppt/notesMasters/notesMaster1.xml" Id="R4e78cce5d58943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bc66b2f0c54fb3" /><Relationship Type="http://schemas.openxmlformats.org/officeDocument/2006/relationships/notesMaster" Target="/ppt/notesMasters/notesMaster1.xml" Id="Rbd3e24149eac4d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fda4cf87d04c89" /><Relationship Type="http://schemas.openxmlformats.org/officeDocument/2006/relationships/notesMaster" Target="/ppt/notesMasters/notesMaster1.xml" Id="R0a69f466f9b6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Dissertacao_Chapeu_dUvas_revisada_ABNT (2).pdf, páginas impressas 60 a 65 (páginas 61 a 66 do PDF). Valores transcritos das seções 4.5.1 a 4.5.5 e da Tabela 7. As defasagens correspondem à diferença temporal entre os máximos, não a um tempo de propagação calibrado.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Dissertacao_Chapeu_dUvas_revisada_ABNT (2).pdf, páginas impressas 42–43, 65–66 e 74–75. As conclusões se restringem às condições modeladas, sem validar a operação real da barragem.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49532428c40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d3f3994de42f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 and body"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E73145B-8E42-4B61-9BB7-E9A81024E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566400" cy="447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15000"/>
              </a:lnSpc>
              <a:buNone/>
              <a:defRPr sz="320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1pPr>
          </a:lstStyle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endParaRPr sz="3200"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1650D0-E452-4B9F-BBF1-9B14C3826986}"/>
              </a:ext>
            </a:extLst>
          </p:cNvPr>
          <p:cNvSpPr>
            <a:spLocks xmlns:a="http://schemas.openxmlformats.org/drawingml/2006/main" noGrp="1"/>
          </p:cNvSpPr>
          <p:nvPr>
            <p:ph type="body" idx="101"/>
          </p:nvPr>
        </p:nvSpPr>
        <p:spPr>
          <a:xfrm xmlns:a="http://schemas.openxmlformats.org/drawingml/2006/main">
            <a:off x="812800" y="1564640"/>
            <a:ext cx="105664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40000"/>
              </a:lnSpc>
              <a:buNone/>
              <a:def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1pPr>
          </a:lstStyle>
          <a:p xmlns:a="http://schemas.openxmlformats.org/drawingml/2006/main">
            <a:pPr marL="0" indent="0" algn="l">
              <a:lnSpc>
                <a:spcPct val="140000"/>
              </a:lnSpc>
              <a:buNone/>
            </a:pPr>
            <a:endParaRPr sz="16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90fd31bed42d2" /><Relationship Type="http://schemas.openxmlformats.org/officeDocument/2006/relationships/slideLayout" Target="/ppt/slideLayouts/slideLayout1.xml" Id="R77e7150d56114dc8" /><Relationship Type="http://schemas.openxmlformats.org/officeDocument/2006/relationships/slideLayout" Target="/ppt/slideLayouts/slideLayout2.xml" Id="R6e2f36218f92474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BEC8583-36AF-4ECB-81BA-206A8AE43A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566400" cy="447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15000"/>
              </a:lnSpc>
              <a:buNone/>
              <a:defRPr sz="320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1pPr>
          </a:lstStyle>
          <a:p xmlns:a="http://schemas.openxmlformats.org/drawingml/2006/main">
            <a:pPr marL="0" indent="0" algn="l">
              <a:lnSpc>
                <a:spcPct val="115000"/>
              </a:lnSpc>
              <a:buNone/>
            </a:pPr>
            <a:endParaRPr sz="3200"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D58C46A-BCCE-4E4B-887C-35C3BCF86AFC}"/>
              </a:ext>
            </a:extLst>
          </p:cNvPr>
          <p:cNvSpPr>
            <a:spLocks xmlns:a="http://schemas.openxmlformats.org/drawingml/2006/main" noGrp="1"/>
          </p:cNvSpPr>
          <p:nvPr>
            <p:ph type="body" idx="101"/>
          </p:nvPr>
        </p:nvSpPr>
        <p:spPr>
          <a:xfrm xmlns:a="http://schemas.openxmlformats.org/drawingml/2006/main">
            <a:off x="812800" y="1564640"/>
            <a:ext cx="1056640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40000"/>
              </a:lnSpc>
              <a:buNone/>
              <a:def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1pPr>
          </a:lstStyle>
          <a:p xmlns:a="http://schemas.openxmlformats.org/drawingml/2006/main">
            <a:pPr marL="0" indent="0" algn="l">
              <a:lnSpc>
                <a:spcPct val="140000"/>
              </a:lnSpc>
              <a:buNone/>
            </a:pPr>
            <a:endParaRPr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7150d56114dc8"/>
    <p:sldLayoutId xmlns:r="http://schemas.openxmlformats.org/officeDocument/2006/relationships" id="2147483650" r:id="R6e2f36218f92474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Qualificação – Modelagem hidrológica da barragem Chapéu d’Uvas">
  <a:themeElements>
    <a:clrScheme name="Qualificação – Modelagem hidrológica da barragem Chapéu d’Uvas">
      <a:dk1>
        <a:srgbClr val="1B1F24"/>
      </a:dk1>
      <a:lt1>
        <a:srgbClr val="F8F6F0"/>
      </a:lt1>
      <a:dk2>
        <a:srgbClr val="525557"/>
      </a:dk2>
      <a:lt2>
        <a:srgbClr val="E2E1DC"/>
      </a:lt2>
      <a:accent1>
        <a:srgbClr val="10294A"/>
      </a:accent1>
      <a:accent2>
        <a:srgbClr val="9A6B12"/>
      </a:accent2>
      <a:accent3>
        <a:srgbClr val="E3B65A"/>
      </a:accent3>
      <a:accent4>
        <a:srgbClr val="C28F2C"/>
      </a:accent4>
      <a:accent5>
        <a:srgbClr val="D5D9DF"/>
      </a:accent5>
      <a:accent6>
        <a:srgbClr val="5E6670"/>
      </a:accent6>
      <a:hlink>
        <a:srgbClr val="0563C1"/>
      </a:hlink>
      <a:folHlink>
        <a:srgbClr val="954F72"/>
      </a:folHlink>
    </a:clrScheme>
    <a:fontScheme name="Qualificação – Modelagem hidrológica da barragem Chapéu d’Uva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lificação – Modelagem hidrológica da barragem Chapéu d’Uv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19d634c1d6481b" /><Relationship Type="http://schemas.openxmlformats.org/officeDocument/2006/relationships/image" Target="/ppt/media/image.png" Id="Rafa950618c7843b7" /><Relationship Type="http://schemas.openxmlformats.org/officeDocument/2006/relationships/notesSlide" Target="/ppt/notesSlides/notesSlide1.xml" Id="Rb4fed19a521748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9ae5a20bcb4c78" /><Relationship Type="http://schemas.openxmlformats.org/officeDocument/2006/relationships/image" Target="/ppt/media/image2.png" Id="Re2c3c27f23b64030" /><Relationship Type="http://schemas.openxmlformats.org/officeDocument/2006/relationships/notesSlide" Target="/ppt/notesSlides/notesSlide2.xml" Id="R6901147893b2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d97364f1d945de" /><Relationship Type="http://schemas.openxmlformats.org/officeDocument/2006/relationships/image" Target="/ppt/media/image3.png" Id="R87cea8bd220c417d" /><Relationship Type="http://schemas.openxmlformats.org/officeDocument/2006/relationships/image" Target="/ppt/media/image4.png" Id="R68c678a2c5c44262" /><Relationship Type="http://schemas.openxmlformats.org/officeDocument/2006/relationships/image" Target="/ppt/media/image5.png" Id="R9ee8452e53554ef2" /><Relationship Type="http://schemas.openxmlformats.org/officeDocument/2006/relationships/notesSlide" Target="/ppt/notesSlides/notesSlide3.xml" Id="R4617a0a02ba14d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a9394a9d3d4fa7" /><Relationship Type="http://schemas.openxmlformats.org/officeDocument/2006/relationships/image" Target="/ppt/media/image6.png" Id="Rd615cbfc8bda42e7" /><Relationship Type="http://schemas.openxmlformats.org/officeDocument/2006/relationships/notesSlide" Target="/ppt/notesSlides/notesSlide4.xml" Id="Ra1c6c5d038fb41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4f74e96afe4742" /><Relationship Type="http://schemas.openxmlformats.org/officeDocument/2006/relationships/image" Target="/ppt/media/image7.png" Id="Rfe2833a09a9144b6" /><Relationship Type="http://schemas.openxmlformats.org/officeDocument/2006/relationships/image" Target="/ppt/media/image8.png" Id="R3b02a0f3300b48c7" /><Relationship Type="http://schemas.openxmlformats.org/officeDocument/2006/relationships/notesSlide" Target="/ppt/notesSlides/notesSlide5.xml" Id="Rdda41620d01a4b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d29ccae9bd4b32" /><Relationship Type="http://schemas.openxmlformats.org/officeDocument/2006/relationships/image" Target="/ppt/media/image9.png" Id="R6e3cdb24a8fb4831" /><Relationship Type="http://schemas.openxmlformats.org/officeDocument/2006/relationships/image" Target="/ppt/media/image10.png" Id="Rd3ffc6a24f4e4cd9" /><Relationship Type="http://schemas.openxmlformats.org/officeDocument/2006/relationships/notesSlide" Target="/ppt/notesSlides/notesSlide6.xml" Id="R1d88b470746e40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01022ef304f08" /><Relationship Type="http://schemas.openxmlformats.org/officeDocument/2006/relationships/image" Target="/ppt/media/image11.png" Id="R44b93088bd254a7d" /><Relationship Type="http://schemas.openxmlformats.org/officeDocument/2006/relationships/notesSlide" Target="/ppt/notesSlides/notesSlide7.xml" Id="R6fda31795c97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09cd6000cd4373" /><Relationship Type="http://schemas.openxmlformats.org/officeDocument/2006/relationships/image" Target="/ppt/media/image12.png" Id="Rc51799aba89b40dc" /><Relationship Type="http://schemas.openxmlformats.org/officeDocument/2006/relationships/image" Target="/ppt/media/image13.png" Id="Rbcdff75167e1467f" /><Relationship Type="http://schemas.openxmlformats.org/officeDocument/2006/relationships/notesSlide" Target="/ppt/notesSlides/notesSlide8.xml" Id="R97cd9d5e934944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608a58322047be" /><Relationship Type="http://schemas.openxmlformats.org/officeDocument/2006/relationships/image" Target="/ppt/media/image14.png" Id="Rb2ae7e3f8461400c" /><Relationship Type="http://schemas.openxmlformats.org/officeDocument/2006/relationships/image" Target="/ppt/media/image15.png" Id="Rb588c9feeb6e44e7" /><Relationship Type="http://schemas.openxmlformats.org/officeDocument/2006/relationships/notesSlide" Target="/ppt/notesSlides/notesSlide9.xml" Id="R311c2975d5da40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8b474723f0424a" /><Relationship Type="http://schemas.openxmlformats.org/officeDocument/2006/relationships/image" Target="/ppt/media/image16.png" Id="R425da2171e2a4335" /><Relationship Type="http://schemas.openxmlformats.org/officeDocument/2006/relationships/notesSlide" Target="/ppt/notesSlides/notesSlide10.xml" Id="Rc3e4c110754b45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d4b509f4f4210" /><Relationship Type="http://schemas.openxmlformats.org/officeDocument/2006/relationships/hyperlink" Target="https://projeto-sub-bacias.vercel.app/#afluencia" TargetMode="External" Id="Rb4e53d1cee9144c3" /><Relationship Type="http://schemas.openxmlformats.org/officeDocument/2006/relationships/image" Target="/ppt/media/image17.png" Id="Rc2643faf905c48c3" /><Relationship Type="http://schemas.openxmlformats.org/officeDocument/2006/relationships/notesSlide" Target="/ppt/notesSlides/notesSlide11.xml" Id="R33cc4c1f40aa4c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779e9721b4ef6" /><Relationship Type="http://schemas.openxmlformats.org/officeDocument/2006/relationships/image" Target="/ppt/media/image18.png" Id="Ra46721e54fc847ba" /><Relationship Type="http://schemas.openxmlformats.org/officeDocument/2006/relationships/notesSlide" Target="/ppt/notesSlides/notesSlide12.xml" Id="R11690f8bf62043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762cf054f94eb4" /><Relationship Type="http://schemas.openxmlformats.org/officeDocument/2006/relationships/image" Target="/ppt/media/image19.png" Id="R1f005faeecf14390" /><Relationship Type="http://schemas.openxmlformats.org/officeDocument/2006/relationships/notesSlide" Target="/ppt/notesSlides/notesSlide13.xml" Id="Rdcd0eb17efa54c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9300ccba46ce" /><Relationship Type="http://schemas.openxmlformats.org/officeDocument/2006/relationships/image" Target="/ppt/media/image20.png" Id="R309bca21082145c7" /><Relationship Type="http://schemas.openxmlformats.org/officeDocument/2006/relationships/notesSlide" Target="/ppt/notesSlides/notesSlide14.xml" Id="Ra13591a1a0934f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493d03e7ce454f" /><Relationship Type="http://schemas.openxmlformats.org/officeDocument/2006/relationships/image" Target="/ppt/media/image21.png" Id="R1ac048ceaba34262" /><Relationship Type="http://schemas.openxmlformats.org/officeDocument/2006/relationships/notesSlide" Target="/ppt/notesSlides/notesSlide15.xml" Id="R5216efdf0e074a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5b83330f0d427e" /><Relationship Type="http://schemas.openxmlformats.org/officeDocument/2006/relationships/image" Target="/ppt/media/image22.png" Id="R23e25b4ebd914872" /><Relationship Type="http://schemas.openxmlformats.org/officeDocument/2006/relationships/image" Target="/ppt/media/image23.png" Id="Ree9d1670bb844180" /><Relationship Type="http://schemas.openxmlformats.org/officeDocument/2006/relationships/notesSlide" Target="/ppt/notesSlides/notesSlide16.xml" Id="R7b93be75832e4f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c0f5535544916" /><Relationship Type="http://schemas.openxmlformats.org/officeDocument/2006/relationships/image" Target="/ppt/media/image24.png" Id="R5ccbcb7852c74f88" /><Relationship Type="http://schemas.openxmlformats.org/officeDocument/2006/relationships/notesSlide" Target="/ppt/notesSlides/notesSlide17.xml" Id="Rbdc2707ee69f4c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F6FF8E-6B50-43D0-8732-A224E34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71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E6670"/>
                </a:solidFill>
              </a:defRPr>
            </a:defPPr>
            <a:lvl1pPr>
              <a:buNone/>
              <a:defRPr>
                <a:solidFill>
                  <a:srgbClr val="5E6670"/>
                </a:solidFill>
              </a:defRPr>
            </a:lvl1pPr>
            <a:lvl2pPr>
              <a:buNone/>
              <a:defRPr>
                <a:solidFill>
                  <a:srgbClr val="5E6670"/>
                </a:solidFill>
              </a:defRPr>
            </a:lvl2pPr>
            <a:lvl3pPr>
              <a:buNone/>
              <a:defRPr>
                <a:solidFill>
                  <a:srgbClr val="5E6670"/>
                </a:solidFill>
              </a:defRPr>
            </a:lvl3pPr>
            <a:lvl4pPr>
              <a:buNone/>
              <a:defRPr>
                <a:solidFill>
                  <a:srgbClr val="5E6670"/>
                </a:solidFill>
              </a:defRPr>
            </a:lvl4pPr>
            <a:lvl5pPr>
              <a:buNone/>
              <a:defRPr>
                <a:solidFill>
                  <a:srgbClr val="5E6670"/>
                </a:solidFill>
              </a:defRPr>
            </a:lvl5pPr>
            <a:lvl6pPr>
              <a:buNone/>
              <a:defRPr>
                <a:solidFill>
                  <a:srgbClr val="5E6670"/>
                </a:solidFill>
              </a:defRPr>
            </a:lvl6pPr>
            <a:lvl7pPr>
              <a:buNone/>
              <a:defRPr>
                <a:solidFill>
                  <a:srgbClr val="5E6670"/>
                </a:solidFill>
              </a:defRPr>
            </a:lvl7pPr>
            <a:lvl8pPr>
              <a:buNone/>
              <a:defRPr>
                <a:solidFill>
                  <a:srgbClr val="5E6670"/>
                </a:solidFill>
              </a:defRPr>
            </a:lvl8pPr>
            <a:lvl9pPr>
              <a:buNone/>
              <a:defRPr>
                <a:solidFill>
                  <a:srgbClr val="5E6670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UNIVERSIDADE FEDERAL DE JUIZ DE FORA</a:t>
            </a:r>
            <a:endParaRPr sz="1400"/>
          </a:p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PROGRAMA DE PÓS-GRADUAÇÃO EM ENGENHARIA CIVIL</a:t>
            </a:r>
            <a:endParaRPr sz="1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4927B44-1682-438D-ACF4-BC2A14B3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92020"/>
            <a:ext cx="10160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F2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D45E54-D165-4657-AAFE-ECC351B5B2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2496820"/>
            <a:ext cx="10883392" cy="119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294A"/>
                </a:solidFill>
              </a:defRPr>
            </a:defPPr>
            <a:lvl1pPr>
              <a:buNone/>
              <a:defRPr>
                <a:solidFill>
                  <a:srgbClr val="10294A"/>
                </a:solidFill>
              </a:defRPr>
            </a:lvl1pPr>
            <a:lvl2pPr>
              <a:buNone/>
              <a:defRPr>
                <a:solidFill>
                  <a:srgbClr val="10294A"/>
                </a:solidFill>
              </a:defRPr>
            </a:lvl2pPr>
            <a:lvl3pPr>
              <a:buNone/>
              <a:defRPr>
                <a:solidFill>
                  <a:srgbClr val="10294A"/>
                </a:solidFill>
              </a:defRPr>
            </a:lvl3pPr>
            <a:lvl4pPr>
              <a:buNone/>
              <a:defRPr>
                <a:solidFill>
                  <a:srgbClr val="10294A"/>
                </a:solidFill>
              </a:defRPr>
            </a:lvl4pPr>
            <a:lvl5pPr>
              <a:buNone/>
              <a:defRPr>
                <a:solidFill>
                  <a:srgbClr val="10294A"/>
                </a:solidFill>
              </a:defRPr>
            </a:lvl5pPr>
            <a:lvl6pPr>
              <a:buNone/>
              <a:defRPr>
                <a:solidFill>
                  <a:srgbClr val="10294A"/>
                </a:solidFill>
              </a:defRPr>
            </a:lvl6pPr>
            <a:lvl7pPr>
              <a:buNone/>
              <a:defRPr>
                <a:solidFill>
                  <a:srgbClr val="10294A"/>
                </a:solidFill>
              </a:defRPr>
            </a:lvl7pPr>
            <a:lvl8pPr>
              <a:buNone/>
              <a:defRPr>
                <a:solidFill>
                  <a:srgbClr val="10294A"/>
                </a:solidFill>
              </a:defRPr>
            </a:lvl8pPr>
            <a:lvl9pPr>
              <a:buNone/>
              <a:defRPr>
                <a:solidFill>
                  <a:srgbClr val="10294A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4620"/>
              </a:lnSpc>
              <a:buNone/>
            </a:pPr>
            <a:r>
              <a:rPr sz="4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Modelagem hidrológica da barragem Chapéu d’Uvas para eventos extremos</a:t>
            </a:r>
            <a:endParaRPr sz="4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84A1454-E519-407C-97A9-DD9A4E1A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800600"/>
            <a:ext cx="10883392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294A"/>
                </a:solidFill>
              </a:defRPr>
            </a:defPPr>
            <a:lvl1pPr>
              <a:buNone/>
              <a:defRPr>
                <a:solidFill>
                  <a:srgbClr val="10294A"/>
                </a:solidFill>
              </a:defRPr>
            </a:lvl1pPr>
            <a:lvl2pPr>
              <a:buNone/>
              <a:defRPr>
                <a:solidFill>
                  <a:srgbClr val="10294A"/>
                </a:solidFill>
              </a:defRPr>
            </a:lvl2pPr>
            <a:lvl3pPr>
              <a:buNone/>
              <a:defRPr>
                <a:solidFill>
                  <a:srgbClr val="10294A"/>
                </a:solidFill>
              </a:defRPr>
            </a:lvl3pPr>
            <a:lvl4pPr>
              <a:buNone/>
              <a:defRPr>
                <a:solidFill>
                  <a:srgbClr val="10294A"/>
                </a:solidFill>
              </a:defRPr>
            </a:lvl4pPr>
            <a:lvl5pPr>
              <a:buNone/>
              <a:defRPr>
                <a:solidFill>
                  <a:srgbClr val="10294A"/>
                </a:solidFill>
              </a:defRPr>
            </a:lvl5pPr>
            <a:lvl6pPr>
              <a:buNone/>
              <a:defRPr>
                <a:solidFill>
                  <a:srgbClr val="10294A"/>
                </a:solidFill>
              </a:defRPr>
            </a:lvl6pPr>
            <a:lvl7pPr>
              <a:buNone/>
              <a:defRPr>
                <a:solidFill>
                  <a:srgbClr val="10294A"/>
                </a:solidFill>
              </a:defRPr>
            </a:lvl7pPr>
            <a:lvl8pPr>
              <a:buNone/>
              <a:defRPr>
                <a:solidFill>
                  <a:srgbClr val="10294A"/>
                </a:solidFill>
              </a:defRPr>
            </a:lvl8pPr>
            <a:lvl9pPr>
              <a:buNone/>
              <a:defRPr>
                <a:solidFill>
                  <a:srgbClr val="10294A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Mariana Martins Marcelino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AEFF0F-42FB-43A2-B8E9-78A85BD1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232400"/>
            <a:ext cx="10883392" cy="292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E6670"/>
                </a:solidFill>
              </a:defRPr>
            </a:defPPr>
            <a:lvl1pPr>
              <a:buNone/>
              <a:defRPr>
                <a:solidFill>
                  <a:srgbClr val="5E6670"/>
                </a:solidFill>
              </a:defRPr>
            </a:lvl1pPr>
            <a:lvl2pPr>
              <a:buNone/>
              <a:defRPr>
                <a:solidFill>
                  <a:srgbClr val="5E6670"/>
                </a:solidFill>
              </a:defRPr>
            </a:lvl2pPr>
            <a:lvl3pPr>
              <a:buNone/>
              <a:defRPr>
                <a:solidFill>
                  <a:srgbClr val="5E6670"/>
                </a:solidFill>
              </a:defRPr>
            </a:lvl3pPr>
            <a:lvl4pPr>
              <a:buNone/>
              <a:defRPr>
                <a:solidFill>
                  <a:srgbClr val="5E6670"/>
                </a:solidFill>
              </a:defRPr>
            </a:lvl4pPr>
            <a:lvl5pPr>
              <a:buNone/>
              <a:defRPr>
                <a:solidFill>
                  <a:srgbClr val="5E6670"/>
                </a:solidFill>
              </a:defRPr>
            </a:lvl5pPr>
            <a:lvl6pPr>
              <a:buNone/>
              <a:defRPr>
                <a:solidFill>
                  <a:srgbClr val="5E6670"/>
                </a:solidFill>
              </a:defRPr>
            </a:lvl6pPr>
            <a:lvl7pPr>
              <a:buNone/>
              <a:defRPr>
                <a:solidFill>
                  <a:srgbClr val="5E6670"/>
                </a:solidFill>
              </a:defRPr>
            </a:lvl7pPr>
            <a:lvl8pPr>
              <a:buNone/>
              <a:defRPr>
                <a:solidFill>
                  <a:srgbClr val="5E6670"/>
                </a:solidFill>
              </a:defRPr>
            </a:lvl8pPr>
            <a:lvl9pPr>
              <a:buNone/>
              <a:defRPr>
                <a:solidFill>
                  <a:srgbClr val="5E6670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2100"/>
              </a:lnSpc>
              <a:buNone/>
            </a:pPr>
            <a:r>
              <a:rPr sz="150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Orientador: Prof. Dr. Celso Bandeira de Melo Ribeiro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5C8EDE-3122-4177-B90A-CEDF8FB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75300"/>
            <a:ext cx="10883392" cy="292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E6670"/>
                </a:solidFill>
              </a:defRPr>
            </a:defPPr>
            <a:lvl1pPr>
              <a:buNone/>
              <a:defRPr>
                <a:solidFill>
                  <a:srgbClr val="5E6670"/>
                </a:solidFill>
              </a:defRPr>
            </a:lvl1pPr>
            <a:lvl2pPr>
              <a:buNone/>
              <a:defRPr>
                <a:solidFill>
                  <a:srgbClr val="5E6670"/>
                </a:solidFill>
              </a:defRPr>
            </a:lvl2pPr>
            <a:lvl3pPr>
              <a:buNone/>
              <a:defRPr>
                <a:solidFill>
                  <a:srgbClr val="5E6670"/>
                </a:solidFill>
              </a:defRPr>
            </a:lvl3pPr>
            <a:lvl4pPr>
              <a:buNone/>
              <a:defRPr>
                <a:solidFill>
                  <a:srgbClr val="5E6670"/>
                </a:solidFill>
              </a:defRPr>
            </a:lvl4pPr>
            <a:lvl5pPr>
              <a:buNone/>
              <a:defRPr>
                <a:solidFill>
                  <a:srgbClr val="5E6670"/>
                </a:solidFill>
              </a:defRPr>
            </a:lvl5pPr>
            <a:lvl6pPr>
              <a:buNone/>
              <a:defRPr>
                <a:solidFill>
                  <a:srgbClr val="5E6670"/>
                </a:solidFill>
              </a:defRPr>
            </a:lvl6pPr>
            <a:lvl7pPr>
              <a:buNone/>
              <a:defRPr>
                <a:solidFill>
                  <a:srgbClr val="5E6670"/>
                </a:solidFill>
              </a:defRPr>
            </a:lvl7pPr>
            <a:lvl8pPr>
              <a:buNone/>
              <a:defRPr>
                <a:solidFill>
                  <a:srgbClr val="5E6670"/>
                </a:solidFill>
              </a:defRPr>
            </a:lvl8pPr>
            <a:lvl9pPr>
              <a:buNone/>
              <a:defRPr>
                <a:solidFill>
                  <a:srgbClr val="5E6670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2100"/>
              </a:lnSpc>
              <a:buNone/>
            </a:pPr>
            <a:r>
              <a:rPr sz="150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Exame de qualificação · 22 de outubro de 2026</a:t>
            </a:r>
            <a:endParaRPr sz="1500"/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6C89A-5AD5-4993-BEC6-8739B7370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950618c7843b7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32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1D0B54-CC93-4902-8230-9F6F9E6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20C03B-5AFE-432B-A690-E62E0D3F51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Sumário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EFC13E-1398-49CB-8DEF-C984301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7637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254000" algn="l">
              <a:lnSpc>
                <a:spcPts val="3080"/>
              </a:lnSpc>
              <a:buSzPct val="100000"/>
              <a:buFontTx/>
              <a:buAutoNum type="arabicPeriod"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Introdução</a:t>
            </a:r>
            <a:endParaRPr sz="2200"/>
          </a:p>
          <a:p xmlns:a="http://schemas.openxmlformats.org/drawingml/2006/main">
            <a:pPr marL="254000" indent="-254000" algn="l">
              <a:lnSpc>
                <a:spcPts val="3080"/>
              </a:lnSpc>
              <a:buSzPct val="100000"/>
              <a:buFontTx/>
              <a:buAutoNum type="arabicPeriod"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Objetivos</a:t>
            </a:r>
            <a:endParaRPr sz="2200">
              <a:solidFill>
                <a:srgbClr val="1B1F24"/>
              </a:solidFill>
              <a:latin typeface="Source Sans 3"/>
              <a:ea typeface="Source Sans 3"/>
              <a:cs typeface="Source Sans 3"/>
            </a:endParaRPr>
          </a:p>
          <a:p xmlns:a="http://schemas.openxmlformats.org/drawingml/2006/main">
            <a:pPr marL="254000" indent="-254000" algn="l">
              <a:lnSpc>
                <a:spcPts val="3080"/>
              </a:lnSpc>
              <a:buSzPct val="100000"/>
              <a:buFontTx/>
              <a:buAutoNum type="arabicPeriod"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Área de estudo</a:t>
            </a:r>
            <a:endParaRPr sz="2200"/>
          </a:p>
          <a:p xmlns:a="http://schemas.openxmlformats.org/drawingml/2006/main">
            <a:pPr marL="254000" indent="-254000" algn="l">
              <a:lnSpc>
                <a:spcPts val="3080"/>
              </a:lnSpc>
              <a:buSzPct val="100000"/>
              <a:buFontTx/>
              <a:buAutoNum type="arabicPeriod"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Metodologia</a:t>
            </a:r>
            <a:endParaRPr sz="2200"/>
          </a:p>
          <a:p xmlns:a="http://schemas.openxmlformats.org/drawingml/2006/main">
            <a:pPr marL="254000" indent="-254000" algn="l">
              <a:lnSpc>
                <a:spcPts val="3080"/>
              </a:lnSpc>
              <a:buSzPct val="100000"/>
              <a:buFontTx/>
              <a:buAutoNum type="arabicPeriod"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Resultados</a:t>
            </a:r>
            <a:endParaRPr sz="2200"/>
          </a:p>
          <a:p xmlns:a="http://schemas.openxmlformats.org/drawingml/2006/main">
            <a:pPr marL="0" indent="0" algn="l">
              <a:lnSpc>
                <a:spcPts val="3080"/>
              </a:lnSpc>
              <a:buNone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6. Conclusões</a:t>
            </a:r>
            <a:endParaRPr sz="2200"/>
          </a:p>
          <a:p xmlns:a="http://schemas.openxmlformats.org/drawingml/2006/main">
            <a:pPr marL="0" indent="0" algn="l">
              <a:lnSpc>
                <a:spcPts val="3080"/>
              </a:lnSpc>
              <a:buNone/>
            </a:pPr>
            <a:r>
              <a:rPr sz="22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7. Capítulo 2 e cronograma</a:t>
            </a:r>
            <a:endParaRPr sz="2200"/>
          </a:p>
        </p:txBody>
      </p:sp>
      <p:pic>
        <p:nvPicPr>
          <p:cNvPr id="6" name="Imagem 5">
            <a:extLst xmlns:a="http://schemas.openxmlformats.org/drawingml/2006/main">
              <a:ext uri="{FF2B5EF4-FFF2-40B4-BE49-F238E27FC236}">
                <a16:creationId xmlns:a16="http://schemas.microsoft.com/office/drawing/2014/main" id="{DE15EE7C-E8D8-48AB-B742-CA0A7E205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3c27f23b6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62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72B334-50E3-48D4-9AEA-D6BCD8FF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394CC0-365A-43E4-9CE1-2E4F15DD0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1. Introdução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DD84AE-E83C-4E18-9D4B-717ECC6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76375"/>
            <a:ext cx="5753100" cy="422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/>
            </a:defPPr>
            <a:lvl1pPr>
              <a:buNone/>
              <a:defRPr sz="2250"/>
            </a:lvl1pPr>
            <a:lvl2pPr>
              <a:buNone/>
              <a:defRPr sz="2250"/>
            </a:lvl2pPr>
            <a:lvl3pPr>
              <a:buNone/>
              <a:defRPr sz="2250"/>
            </a:lvl3pPr>
            <a:lvl4pPr>
              <a:buNone/>
              <a:defRPr sz="2250"/>
            </a:lvl4pPr>
            <a:lvl5pPr>
              <a:buNone/>
              <a:defRPr sz="2250"/>
            </a:lvl5pPr>
            <a:lvl6pPr>
              <a:buNone/>
              <a:defRPr sz="2250"/>
            </a:lvl6pPr>
            <a:lvl7pPr>
              <a:buNone/>
              <a:defRPr sz="2250"/>
            </a:lvl7pPr>
            <a:lvl8pPr>
              <a:buNone/>
              <a:defRPr sz="2250"/>
            </a:lvl8pPr>
            <a:lvl9pPr>
              <a:buNone/>
              <a:defRPr sz="2250"/>
            </a:lvl9pPr>
          </a:lstStyle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2250"/>
              <a:t>Eventos extremos de precipitação podem causar cheias e danos à população e à infraestrutura.</a:t>
            </a: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2250"/>
              <a:t>Em fevereiro de 2026, chuvas intensas atingiram Juiz de Fora e a Zona da Mata Mineira.</a:t>
            </a:r>
          </a:p>
          <a:p xmlns:a="http://schemas.openxmlformats.org/drawingml/2006/main">
            <a:pPr marL="285750" lvl="0" indent="-285750">
              <a:buFont typeface="Arial"/>
              <a:buChar char="•"/>
            </a:pPr>
            <a:r>
              <a:rPr sz="2250"/>
              <a:t>O evento reforça a necessidade de estudar a resposta das bacias e o amortecimento de cheias em reservatórios.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883C7D-889C-4722-8D0C-C6EB41CE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Imagem: elaborada pela autora (2026). Fontes: Prefeitura de Juiz de Fora (2026); IPCC (2021)</a:t>
            </a:r>
            <a:endParaRPr sz="1200"/>
          </a:p>
        </p:txBody>
      </p:sp>
      <p:pic>
        <p:nvPicPr>
          <p:cNvPr id="9" name="Imagem 8">
            <a:extLst xmlns:a="http://schemas.openxmlformats.org/drawingml/2006/main">
              <a:ext uri="{FF2B5EF4-FFF2-40B4-BE49-F238E27FC236}">
                <a16:creationId xmlns:a16="http://schemas.microsoft.com/office/drawing/2014/main" id="{AAF6B275-E256-4994-A11F-80DE4CB09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ea8bd220c41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381125"/>
            <a:ext cx="3429000" cy="2571750"/>
          </a:xfrm>
          <a:prstGeom xmlns:a="http://schemas.openxmlformats.org/drawingml/2006/main" prst="rect">
            <a:avLst/>
          </a:prstGeom>
        </p:spPr>
      </p:pic>
      <p:pic>
        <p:nvPicPr>
          <p:cNvPr id="11" name="Imagem 10">
            <a:extLst xmlns:a="http://schemas.openxmlformats.org/drawingml/2006/main">
              <a:ext uri="{FF2B5EF4-FFF2-40B4-BE49-F238E27FC236}">
                <a16:creationId xmlns:a16="http://schemas.microsoft.com/office/drawing/2014/main" id="{C5875575-E395-41C7-AFCE-B8C3A386D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678a2c5c44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4048125"/>
            <a:ext cx="3429000" cy="2317433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B41EC-4E08-477A-B326-A3533C6BD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8452e53554ef2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6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E56B3A-F1B2-4A54-99C9-C419AD35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16E100-79EA-4183-AD0D-80FCF3558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2. Objetivos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47CD55A-2D47-4496-8CA3-3DA09819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95425"/>
            <a:ext cx="10563225" cy="3429000"/>
          </a:xfrm>
          <a:prstGeom xmlns:a="http://schemas.openxmlformats.org/drawingml/2006/main" prst="roundRect">
            <a:avLst>
              <a:gd name="adj" fmla="val 42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C7E666-EA73-46B3-9EBB-DFD68E9E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240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160"/>
              </a:lnSpc>
              <a:buNone/>
            </a:pPr>
            <a:r>
              <a:rPr sz="2400" b="1">
                <a:solidFill>
                  <a:schemeClr val="bg1">
                    <a:lumMod val="50000"/>
                  </a:schemeClr>
                </a:solidFill>
                <a:latin typeface="Source Sans 3"/>
                <a:ea typeface="Source Sans 3"/>
                <a:cs typeface="Source Sans 3"/>
              </a:rPr>
              <a:t>Capítulo 1 · concluído</a:t>
            </a:r>
            <a:endParaRPr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B7933D-7434-4C66-99A2-E1CA1F68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984885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/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Parametrizar o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modelo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hidrológico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da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bacia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Chapéu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d’Uvas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no HEC-HMS</a:t>
            </a:r>
            <a:endParaRPr sz="2400"/>
          </a:p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Simular a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bacia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no 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período</a:t>
            </a: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 de 21 a 28/02/2026</a:t>
            </a:r>
            <a:endParaRPr sz="2400"/>
          </a:p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Estimar a vazão de pico do evento</a:t>
            </a:r>
            <a:endParaRPr sz="2400"/>
          </a:p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Avaliar o amortecimento da cheia em quatro cotas iniciais do reservatório</a:t>
            </a:r>
            <a:endParaRPr sz="2400"/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8B9E-3EA2-4B15-A71A-1462C4A961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5cbfc8bda42e7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84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m 4">
            <a:extLst xmlns:a="http://schemas.openxmlformats.org/drawingml/2006/main">
              <a:ext uri="{FF2B5EF4-FFF2-40B4-BE49-F238E27FC236}">
                <a16:creationId xmlns:a16="http://schemas.microsoft.com/office/drawing/2014/main" id="{0CAF412E-F0C5-4584-AD75-4D8C42CB4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833a09a9144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2250" y="1257300"/>
            <a:ext cx="6667500" cy="5366957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727A97E1-747F-0760-A1ED-4DC7C90F7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>
                <a:latin typeface="Source Serif 4"/>
                <a:ea typeface="Source Serif 4"/>
                <a:cs typeface="Source Serif 4"/>
              </a:rPr>
              <a:t>3. Área de estudo</a:t>
            </a:r>
            <a:endParaRPr sz="3200"/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CE8A2-08B1-41AB-A5A2-B05EB762D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2a0f3300b48c7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94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m 4">
            <a:extLst xmlns:a="http://schemas.openxmlformats.org/drawingml/2006/main">
              <a:ext uri="{FF2B5EF4-FFF2-40B4-BE49-F238E27FC236}">
                <a16:creationId xmlns:a16="http://schemas.microsoft.com/office/drawing/2014/main" id="{A2192AC9-C0D8-45C9-90FE-ECD8B1AF6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cdb24a8fb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43125" y="1371600"/>
            <a:ext cx="7905750" cy="507111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72C1E-5FB0-4300-B48B-35EA76D3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defPPr>
            <a:lvl1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1pPr>
            <a:lvl2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2pPr>
            <a:lvl3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3pPr>
            <a:lvl4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4pPr>
            <a:lvl5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5pPr>
            <a:lvl6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6pPr>
            <a:lvl7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7pPr>
            <a:lvl8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8pPr>
            <a:lvl9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9pPr>
          </a:lstStyle>
          <a:p xmlns:a="http://schemas.openxmlformats.org/drawingml/2006/main">
            <a: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pPr>
            <a:r>
              <a: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4. Metodologia: fluxo de modelagem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1EF4B-6F28-4470-B344-F04207BC9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fc6a24f4e4cd9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23968-90C3-46BB-84B1-36FD511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65151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Reservatório no HEC-HMS 4.12: Outflow Structures, com Elevation-Storage</a:t>
            </a:r>
          </a:p>
        </p:txBody>
      </p:sp>
    </p:spTree>
    <p:extLst>
      <p:ext uri="{BB962C8B-B14F-4D97-AF65-F5344CB8AC3E}">
        <p14:creationId xmlns:p14="http://schemas.microsoft.com/office/powerpoint/2010/main" val="2987362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DC86C6-25AD-4CB9-883D-E5085FC5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2E0BDF-4453-48D7-BF25-D7FF0E058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4. Metodologia: configuração do modelo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323755C-47FF-4BB3-92CF-494021B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007" y="1567815"/>
            <a:ext cx="2005298" cy="257175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D81AFF-C6DB-4C36-BEBE-D80E8A7E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1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6F7017-AE29-4BCF-A137-CA17F23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" y="2179321"/>
            <a:ext cx="16967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5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Chuva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143E89-AD28-4C4C-AB31-D4833DB4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8" y="2543175"/>
            <a:ext cx="1696688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00"/>
            </a:defPPr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IMERG Late Run, séries horárias por sub-bacia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F67D04-D2BC-4425-9FB7-EBDE52D2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" y="1567815"/>
            <a:ext cx="2005298" cy="257175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949C70-1EC6-4CA3-A6C0-C5F06AA1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36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2</a:t>
            </a:r>
            <a:endParaRPr sz="2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76170EE-0143-40DA-8B4F-BCCF9AE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360" y="2179321"/>
            <a:ext cx="16967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5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Perdas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EE86A9-23E7-48B4-A4E9-10EEF1EE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297" y="2543175"/>
            <a:ext cx="1696688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00"/>
            </a:defPPr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SCS-CN com GCN250, condição úmida ARC III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C0F65B0-7EC9-4BC7-A4BE-E82F323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303" y="1567815"/>
            <a:ext cx="2005298" cy="257175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AF5A47-5404-4DB6-A63D-2B8E57FB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3</a:t>
            </a:r>
            <a:endParaRPr sz="2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79C2E1-3726-4214-86FD-602454F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179321"/>
            <a:ext cx="16967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5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Transformação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C164E4F-C1A2-4B08-B218-BC5FD7F9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945" y="2543175"/>
            <a:ext cx="1696688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00"/>
            </a:defPPr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Hidrograma unitário do SCS; lag = 0,6 × Tc (Kirpich)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219C901-0F9F-4CC3-B708-C9B6F68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952" y="1567815"/>
            <a:ext cx="2005298" cy="257175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43AFC74-A4A6-4488-B54B-D63BECB0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72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4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37EEE90-2C46-4E82-B5F6-2046E443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720" y="2179321"/>
            <a:ext cx="16967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5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Propagação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63EF83E-A0AC-4147-A30B-2EF55935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593" y="2543175"/>
            <a:ext cx="1696688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00"/>
            </a:defPPr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Muskingum-Cunge nos trechos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F46A87-B37A-4272-8AD3-27EBB305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00" y="1567815"/>
            <a:ext cx="2005298" cy="2571750"/>
          </a:xfrm>
          <a:prstGeom xmlns:a="http://schemas.openxmlformats.org/drawingml/2006/main" prst="roundRect">
            <a:avLst>
              <a:gd name="adj" fmla="val 5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2FEC4D5-89FF-491D-863E-12468488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5</a:t>
            </a:r>
            <a:endParaRPr sz="2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C8E8B4-F55E-4BEE-AB8F-FEEAAE29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2179321"/>
            <a:ext cx="169672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5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Reservatório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8A63ABD-EA11-491A-A9F1-AC48389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241" y="2543175"/>
            <a:ext cx="1696688" cy="1381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00"/>
            </a:defPPr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Outflow Structures</a:t>
            </a:r>
            <a:endParaRPr sz="1300"/>
          </a:p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Curva de cota e</a:t>
            </a:r>
            <a:endParaRPr sz="1300"/>
          </a:p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armazenamento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1FAA12-9BBE-4EE2-BCF8-4275B4D8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4552950"/>
            <a:ext cx="1056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80"/>
              </a:lnSpc>
              <a:buNone/>
            </a:pPr>
            <a:r>
              <a:rPr sz="17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11 sub-bacias, com área total de 312,6 km²</a:t>
            </a:r>
            <a:endParaRPr sz="1700"/>
          </a:p>
          <a:p xmlns:a="http://schemas.openxmlformats.org/drawingml/2006/main">
            <a:pPr marL="0" indent="0" algn="l">
              <a:lnSpc>
                <a:spcPts val="2380"/>
              </a:lnSpc>
              <a:buNone/>
            </a:pPr>
            <a:r>
              <a:rPr sz="17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Simulação de 21 a 28/02/2026, com passo de tempo de 2 min</a:t>
            </a:r>
            <a:endParaRPr sz="1700"/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B448E-6FD8-4882-9214-8568B7510A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93088bd254a7d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18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819205-1C07-07AD-B2A7-D895710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30FC12-4C85-5891-5032-6AE48AD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/>
            </a:r>
            <a:endParaRPr sz="2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DA94D19-B68F-D9C8-E5FC-2515FD8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400" y="1747521"/>
            <a:ext cx="169672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endParaRPr sz="2000"/>
          </a:p>
        </p:txBody>
      </p:sp>
      <p:pic>
        <p:nvPicPr>
          <p:cNvPr id="28" name="Imagem 27">
            <a:extLst xmlns:a="http://schemas.openxmlformats.org/drawingml/2006/main">
              <a:ext uri="{FF2B5EF4-FFF2-40B4-BE49-F238E27FC236}">
                <a16:creationId xmlns:a16="http://schemas.microsoft.com/office/drawing/2014/main" id="{0C6BB47E-900E-44A2-9315-D9603F0C5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799aba89b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71625" y="1362075"/>
            <a:ext cx="9048750" cy="4997482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D38FD-9AD8-4765-A478-B190A832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defPPr>
            <a:lvl1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1pPr>
            <a:lvl2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2pPr>
            <a:lvl3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3pPr>
            <a:lvl4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4pPr>
            <a:lvl5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5pPr>
            <a:lvl6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6pPr>
            <a:lvl7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7pPr>
            <a:lvl8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8pPr>
            <a:lvl9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9pPr>
          </a:lstStyle>
          <a:p xmlns:a="http://schemas.openxmlformats.org/drawingml/2006/main">
            <a: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pPr>
            <a:r>
              <a: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4. Metodologia: divisão em sub-bacias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D0658-3AA0-4AB3-873C-41103CB4D4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ff75167e1467f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6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572A3A-9985-3B0E-05C3-06AAD8C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Imagem 12">
            <a:extLst xmlns:a="http://schemas.openxmlformats.org/drawingml/2006/main">
              <a:ext uri="{FF2B5EF4-FFF2-40B4-BE49-F238E27FC236}">
                <a16:creationId xmlns:a16="http://schemas.microsoft.com/office/drawing/2014/main" id="{709C39EB-A72B-45B2-8297-06A789351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e7e3f846140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8875" y="1238250"/>
            <a:ext cx="7334250" cy="514654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9AA67-1145-497D-AD2A-CE71EE9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defPPr>
            <a:lvl1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1pPr>
            <a:lvl2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2pPr>
            <a:lvl3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3pPr>
            <a:lvl4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4pPr>
            <a:lvl5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5pPr>
            <a:lvl6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6pPr>
            <a:lvl7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7pPr>
            <a:lvl8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8pPr>
            <a:lvl9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lvl9pPr>
          </a:lstStyle>
          <a:p xmlns:a="http://schemas.openxmlformats.org/drawingml/2006/main">
            <a:pPr>
              <a:buNone/>
              <a:def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defRPr>
            </a:pPr>
            <a:r>
              <a:rPr sz="32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4. Metodologia: estruturas do reservatório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52EDA-B8EA-4D3C-8328-7D3BD765F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8c9feeb6e44e7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3C224-BACB-46C8-9D32-143D46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65913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pPr>
            <a:r>
              <a: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Esquema sem escala. A configuração das estruturas no modelo aparece no slide seguinte.</a:t>
            </a:r>
          </a:p>
        </p:txBody>
      </p:sp>
    </p:spTree>
    <p:extLst>
      <p:ext uri="{BB962C8B-B14F-4D97-AF65-F5344CB8AC3E}">
        <p14:creationId xmlns:p14="http://schemas.microsoft.com/office/powerpoint/2010/main" val="421151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EDD4FD-F421-4974-B71D-6D8E0CD9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E84827-13D2-46D4-9482-E293871B6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4. Metodologia: cotas iniciais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447855-D157-47E7-BE9B-143A99DB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1567814"/>
            <a:ext cx="5831046" cy="237871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5" name="Table 0">
            <a:extLst xmlns:a="http://schemas.openxmlformats.org/drawingml/2006/main">
              <a:ext uri="{FF2B5EF4-FFF2-40B4-BE49-F238E27FC236}">
                <a16:creationId xmlns:a16="http://schemas.microsoft.com/office/drawing/2014/main" id="{E8E0F12A-7879-4C40-B656-326EDF77E9CE}"/>
              </a:ext>
            </a:extLst>
          </p:cNvPr>
          <p:cNvGraphicFramePr/>
          <p:nvPr/>
        </p:nvGraphicFramePr>
        <p:xfrm>
          <a:off xmlns:a="http://schemas.openxmlformats.org/drawingml/2006/main" x="1056640" y="1808481"/>
          <a:ext xmlns:a="http://schemas.openxmlformats.org/drawingml/2006/main" cx="5359875" cy="19075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86625"/>
                <a:gridCol w="1786625"/>
                <a:gridCol w="1786625"/>
              </a:tblGrid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 b="1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Estrutura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BCBCBC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BCBCBC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 b="1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Soleira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BCBCBC"/>
                      </a:solidFill>
                      <a:prstDash val="solid"/>
                    </a:lnL>
                    <a:lnR w="12700" cmpd="sng">
                      <a:solidFill>
                        <a:srgbClr val="BCBCBC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BCBCBC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 b="1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Largura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BCBCBC"/>
                      </a:solidFill>
                      <a:prstDash val="solid"/>
                    </a:lnL>
                    <a:lnR w="12700" cmpd="sng">
                      <a:solidFill>
                        <a:srgbClr val="BCBCBC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BCBCBC"/>
                      </a:solidFill>
                      <a:prstDash val="solid"/>
                    </a:lnB>
                    <a:solidFill>
                      <a:srgbClr val="ECECEC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Tulipa (serviço)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BCBCBC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741,00 m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BCBCBC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46,40 m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BCBCBC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Emergência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744,25 m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220,00 m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Tomada d’água (equivalente)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736,70 m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sz="150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2,50 m</a:t>
                      </a:r>
                      <a:endParaRPr sz="1500">
                        <a:latin typeface="Source Sans 3"/>
                        <a:ea typeface="Source Sans 3"/>
                        <a:cs typeface="Source Sans 3"/>
                      </a:endParaRPr>
                    </a:p>
                  </a:txBody>
                  <a:tcPr marL="66675" marR="66675" marT="66675" marB="66675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E631C9D-1574-47FA-92B9-82AAA6D3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7371" y="1567814"/>
            <a:ext cx="2167652" cy="1238250"/>
          </a:xfrm>
          <a:prstGeom xmlns:a="http://schemas.openxmlformats.org/drawingml/2006/main" prst="roundRect">
            <a:avLst>
              <a:gd name="adj" fmla="val 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332924-8B7F-4C06-8709-15173F01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077" y="1747521"/>
            <a:ext cx="1862489" cy="416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80"/>
              </a:lnSpc>
              <a:buNone/>
            </a:pPr>
            <a:r>
              <a:rPr sz="2200" b="1">
                <a:solidFill>
                  <a:srgbClr val="9A6B12"/>
                </a:solidFill>
                <a:latin typeface="Source Serif 4"/>
                <a:ea typeface="Source Serif 4"/>
                <a:cs typeface="Source Serif 4"/>
              </a:rPr>
              <a:t>736,70 m</a:t>
            </a:r>
            <a:endParaRPr sz="2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CE8EE5-069E-4668-B0F9-89CA2E1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077" y="2138682"/>
            <a:ext cx="1862489" cy="256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nível de controle normal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E894EF-94EA-4368-BB9E-2CE7D2F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74" y="1567814"/>
            <a:ext cx="2167652" cy="1238250"/>
          </a:xfrm>
          <a:prstGeom xmlns:a="http://schemas.openxmlformats.org/drawingml/2006/main" prst="roundRect">
            <a:avLst>
              <a:gd name="adj" fmla="val 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 wrap="square" lIns="150877" tIns="150877" rIns="96631" bIns="15087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80"/>
              </a:lnSpc>
              <a:buNone/>
            </a:pPr>
            <a:r>
              <a:rPr sz="2200" b="1">
                <a:solidFill>
                  <a:srgbClr val="9A6B12"/>
                </a:solidFill>
                <a:latin typeface="Source Serif 4"/>
                <a:ea typeface="Source Serif 4"/>
                <a:cs typeface="Source Serif 4"/>
              </a:rPr>
              <a:t>738,00 m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AF8E0B-8482-415E-AACC-E4793297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7371" y="2939414"/>
            <a:ext cx="2167652" cy="1007110"/>
          </a:xfrm>
          <a:prstGeom xmlns:a="http://schemas.openxmlformats.org/drawingml/2006/main" prst="roundRect">
            <a:avLst>
              <a:gd name="adj" fmla="val 9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 wrap="square" lIns="150878" tIns="150877" rIns="96630" bIns="15087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80"/>
              </a:lnSpc>
              <a:buNone/>
            </a:pPr>
            <a:r>
              <a:rPr sz="2200" b="1">
                <a:solidFill>
                  <a:srgbClr val="9A6B12"/>
                </a:solidFill>
                <a:latin typeface="Source Serif 4"/>
                <a:ea typeface="Source Serif 4"/>
                <a:cs typeface="Source Serif 4"/>
              </a:rPr>
              <a:t>739,00 m</a:t>
            </a:r>
            <a:endParaRPr sz="2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CC946F3-E82E-4D3A-A9A3-0D62B463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374" y="2939414"/>
            <a:ext cx="2167652" cy="1007110"/>
          </a:xfrm>
          <a:prstGeom xmlns:a="http://schemas.openxmlformats.org/drawingml/2006/main" prst="roundRect">
            <a:avLst>
              <a:gd name="adj" fmla="val 9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 wrap="square" lIns="150877" tIns="150877" rIns="96631" bIns="15087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80"/>
              </a:lnSpc>
              <a:buNone/>
            </a:pPr>
            <a:r>
              <a:rPr sz="2200" b="1">
                <a:solidFill>
                  <a:srgbClr val="9A6B12"/>
                </a:solidFill>
                <a:latin typeface="Source Serif 4"/>
                <a:ea typeface="Source Serif 4"/>
                <a:cs typeface="Source Serif 4"/>
              </a:rPr>
              <a:t>740,00 m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D7332DB-46C8-45A5-B642-4E338180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4248150"/>
            <a:ext cx="10563225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ts val="224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Os quatro cenários usam a mesma chuva e os mesmos parâmetros. Apenas a cota inicial varia.</a:t>
            </a:r>
            <a:endParaRPr sz="1600"/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B9303-4314-4FE0-B86B-9FCB4F2C1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da2171e2a4335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A1CDC-E4C7-4B97-864E-A05DD74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1054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pPr>
            <a:r>
              <a:rPr sz="1725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Tomada d’água: largura hidráulica equivalente de 2,50 m, sem representar a dimensão física real.</a:t>
            </a:r>
          </a:p>
        </p:txBody>
      </p:sp>
    </p:spTree>
    <p:extLst>
      <p:ext uri="{BB962C8B-B14F-4D97-AF65-F5344CB8AC3E}">
        <p14:creationId xmlns:p14="http://schemas.microsoft.com/office/powerpoint/2010/main" val="16144473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FB0296-80B0-4190-9B8C-40BE5F61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87470D-BD57-45D5-87EC-EA363D6F5A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5. Resultados: afluência ao reservatório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209F2C4-B2BD-4574-898E-D93ACE9C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1567814"/>
            <a:ext cx="5256530" cy="1741170"/>
          </a:xfrm>
          <a:prstGeom xmlns:a="http://schemas.openxmlformats.org/drawingml/2006/main" prst="roundRect">
            <a:avLst>
              <a:gd name="adj" fmla="val 5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DD8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2731D5B-7249-4445-B59A-550FEB98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" y="1798321"/>
            <a:ext cx="4939386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4800"/>
              </a:lnSpc>
              <a:buNone/>
            </a:pPr>
            <a:r>
              <a:rPr sz="4800" b="1">
                <a:solidFill>
                  <a:srgbClr val="9A6B12"/>
                </a:solidFill>
                <a:latin typeface="Source Serif 4"/>
                <a:ea typeface="Source Serif 4"/>
                <a:cs typeface="Source Serif 4"/>
              </a:rPr>
              <a:t>288,17 m³/s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AC65C9F-69F9-4D98-BB61-DCF9C378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" y="2509521"/>
            <a:ext cx="493938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pico afluente em 26/02/2026, às 06h22, igual nos quatro cenários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3B4F90-BAF0-4CF5-8987-6F9472F6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370" y="1564672"/>
            <a:ext cx="4988624" cy="203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S1 (20,0 km²): </a:t>
            </a: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maior pico entre as sub-bacias</a:t>
            </a: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, 59,11 m³/s</a:t>
            </a:r>
            <a:endParaRPr sz="1600"/>
          </a:p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S2, S4 e S7 (65,7 a 69,6 km²): 50,9 a 52,9 m³/s</a:t>
            </a:r>
            <a:endParaRPr sz="1600"/>
          </a:p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Picos em 23, 24 e 26/02: a área não explica sozinha a resposta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9A6B3B-C5BC-4EAF-B2F4-099C2EA7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007" y="3943350"/>
            <a:ext cx="10559987" cy="781050"/>
          </a:xfrm>
          <a:prstGeom xmlns:a="http://schemas.openxmlformats.org/drawingml/2006/main" prst="roundRect">
            <a:avLst>
              <a:gd name="adj" fmla="val 13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F2C"/>
            </a:solidFill>
            <a:prstDash val="solid"/>
          </a:ln>
        </p:spPr>
        <p:txBody>
          <a:bodyPr xmlns:a="http://schemas.openxmlformats.org/drawingml/2006/main" wrap="square" lIns="207347" tIns="156547" rIns="0" bIns="13114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80"/>
              </a:lnSpc>
              <a:buNone/>
            </a:pPr>
            <a:endParaRPr sz="1700"/>
          </a:p>
        </p:txBody>
      </p:sp>
      <p:sp>
        <p:nvSpPr>
          <p:cNvPr id="10" name="CaixaDeTexto 9">
            <a:extLst xmlns:a="http://schemas.openxmlformats.org/drawingml/2006/main">
              <a:ext uri="{FF2B5EF4-FFF2-40B4-BE49-F238E27FC236}">
                <a16:creationId xmlns:a16="http://schemas.microsoft.com/office/drawing/2014/main" id="{139CA6FC-B657-732C-9ECD-FAD57CF6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47" y="4181475"/>
            <a:ext cx="9906000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1B1F24"/>
                </a:solidFill>
                <a:latin typeface="Source Sans 3"/>
                <a:ea typeface="Source Sans 3"/>
                <a:cs typeface="Source Sans 3"/>
                <a:hlinkClick xmlns:r="http://schemas.openxmlformats.org/officeDocument/2006/relationships" r:id="Rb4e53d1cee9144c3"/>
              </a:rPr>
              <a:t>https://projeto-sub-bacias.vercel.app/#afluencia</a:t>
            </a:r>
            <a:endParaRPr/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2EC86-CFA9-48F0-8C31-79B4D8EEA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43faf905c48c3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97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AB443-5988-4681-959F-D0DB7C4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334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pPr>
            <a:r>
              <a: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5. Resultados: comparação dos cenários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720FE-FDC3-4F79-A718-7429E140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573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pPr>
            <a:r>
              <a:rPr sz="1875" b="0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Pico afluente comum: 288,17 m³/s em 26/02/2026, às 06h22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230A5-7A87-44ED-8FD3-76AADD06AE16}"/>
              </a:ext>
            </a:extLst>
          </p:cNvPr>
          <p:cNvGraphicFramePr/>
          <p:nvPr/>
        </p:nvGraphicFramePr>
        <p:xfrm>
          <a:off xmlns:a="http://schemas.openxmlformats.org/drawingml/2006/main" x="812768" y="2124075"/>
          <a:ext xmlns:a="http://schemas.openxmlformats.org/drawingml/2006/main" cx="1056322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2000250"/>
                <a:gridCol w="2324100"/>
                <a:gridCol w="2190750"/>
                <a:gridCol w="2857500"/>
              </a:tblGrid>
              <a:tr h="533400"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Cenário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DF"/>
                      </a:solidFill>
                      <a:prstDash val="solid"/>
                    </a:lnL>
                    <a:lnR w="9525">
                      <a:solidFill>
                        <a:srgbClr val="D5D9DF"/>
                      </a:solidFill>
                      <a:prstDash val="solid"/>
                    </a:lnR>
                    <a:lnT w="9525">
                      <a:solidFill>
                        <a:srgbClr val="D5D9DF"/>
                      </a:solidFill>
                      <a:prstDash val="solid"/>
                    </a:lnT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Cota inicial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(m)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T w="9525">
                      <a:solidFill>
                        <a:srgbClr val="D5D9DF"/>
                      </a:solidFill>
                      <a:prstDash val="solid"/>
                    </a:lnT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Pico de saída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(m³/s)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T w="9525">
                      <a:solidFill>
                        <a:srgbClr val="D5D9DF"/>
                      </a:solidFill>
                      <a:prstDash val="solid"/>
                    </a:lnT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Cota máxima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(m)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T w="9525">
                      <a:solidFill>
                        <a:srgbClr val="D5D9DF"/>
                      </a:solidFill>
                      <a:prstDash val="solid"/>
                    </a:lnT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Intervalo entre</a:t>
                      </a:r>
                    </a:p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os picos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T w="9525">
                      <a:solidFill>
                        <a:srgbClr val="D5D9DF"/>
                      </a:solidFill>
                      <a:prstDash val="solid"/>
                    </a:lnT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10294A"/>
                    </a:solidFill>
                  </a:tcPr>
                </a:tc>
              </a:tr>
              <a:tr h="533400"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DF"/>
                      </a:solidFill>
                      <a:prstDash val="solid"/>
                    </a:lnL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736,70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12,04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739,38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25h48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DF"/>
                      </a:solidFill>
                      <a:prstDash val="solid"/>
                    </a:lnL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738,00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18,18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740,22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24h40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DF"/>
                      </a:solidFill>
                      <a:prstDash val="solid"/>
                    </a:lnL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739,00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21,82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740,68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24h18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9DF"/>
                      </a:solidFill>
                      <a:prstDash val="solid"/>
                    </a:lnL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740,00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29,05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741,16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B1F24"/>
                          </a:solidFill>
                          <a:latin typeface="Source Sans 3"/>
                          <a:ea typeface="Source Sans 3"/>
                          <a:cs typeface="Source Sans 3"/>
                        </a:rPr>
                        <a:t>23h44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9DF"/>
                      </a:solidFill>
                      <a:prstDash val="solid"/>
                    </a:lnR>
                    <a:lnB w="9525">
                      <a:solidFill>
                        <a:srgbClr val="D5D9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76BC9-7B59-4B66-A930-79DEC017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133975"/>
            <a:ext cx="10563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Somente a cota inicial de 740,00 m levou o nível acima da soleira da Tulipa (741,00 m).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1601E-759D-445C-870C-0BCBB080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6315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pPr>
            <a:r>
              <a:rPr sz="130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Fonte: dissertação, Tabela 7 e seção 4.5 (pp. 63–64). Os picos de entrada e saída não são simultâneos.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DA7A6-5485-4ABE-8578-F53574D3E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721e54fc847ba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24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900BAEE-A279-FABD-3F55-F080E791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F946C0-62F9-B358-7446-E437C882D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6. Conclusões</a:t>
            </a:r>
            <a:endParaRPr sz="3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FF71DF-7895-E2BB-E1DF-EEAD76E9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95425"/>
            <a:ext cx="10563225" cy="4305300"/>
          </a:xfrm>
          <a:prstGeom xmlns:a="http://schemas.openxmlformats.org/drawingml/2006/main" prst="roundRect">
            <a:avLst>
              <a:gd name="adj" fmla="val 39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F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6D4214-DA1A-A52E-DF9F-1890A92D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982200" cy="361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/>
            </a:defPPr>
            <a:lvl1pPr>
              <a:buNone/>
              <a:defRPr sz="2300"/>
            </a:lvl1pPr>
            <a:lvl2pPr>
              <a:buNone/>
              <a:defRPr sz="2300"/>
            </a:lvl2pPr>
            <a:lvl3pPr>
              <a:buNone/>
              <a:defRPr sz="2300"/>
            </a:lvl3pPr>
            <a:lvl4pPr>
              <a:buNone/>
              <a:defRPr sz="2300"/>
            </a:lvl4pPr>
            <a:lvl5pPr>
              <a:buNone/>
              <a:defRPr sz="2300"/>
            </a:lvl5pPr>
            <a:lvl6pPr>
              <a:buNone/>
              <a:defRPr sz="2300"/>
            </a:lvl6pPr>
            <a:lvl7pPr>
              <a:buNone/>
              <a:defRPr sz="2300"/>
            </a:lvl7pPr>
            <a:lvl8pPr>
              <a:buNone/>
              <a:defRPr sz="2300"/>
            </a:lvl8pPr>
            <a:lvl9pPr>
              <a:buNone/>
              <a:defRPr sz="2300"/>
            </a:lvl9pPr>
          </a:lstStyle>
          <a:p xmlns:a="http://schemas.openxmlformats.org/drawingml/2006/main">
            <a:pPr marL="342900" lvl="0" indent="-342900">
              <a:buFont typeface="Arial"/>
              <a:buChar char="•"/>
            </a:pPr>
            <a:r>
              <a:rPr sz="2300"/>
              <a:t>O reservatório apresentou amortecimento expressivo dos picos de vazão nas condições simuladas.</a:t>
            </a:r>
          </a:p>
          <a:p xmlns:a="http://schemas.openxmlformats.org/drawingml/2006/main">
            <a:pPr marL="342900" lvl="0" indent="-342900">
              <a:buFont typeface="Arial"/>
              <a:buChar char="•"/>
            </a:pPr>
            <a:r>
              <a:rPr sz="2300"/>
              <a:t>Cotas iniciais mais altas resultaram em maiores vazões defluentes e menor intervalo entre os picos afluente e defluente.</a:t>
            </a:r>
          </a:p>
          <a:p xmlns:a="http://schemas.openxmlformats.org/drawingml/2006/main">
            <a:pPr marL="342900" lvl="0" indent="-342900">
              <a:buFont typeface="Arial"/>
              <a:buChar char="•"/>
            </a:pPr>
            <a:r>
              <a:rPr sz="2300"/>
              <a:t>Somente o cenário iniciado na cota de 740,00 m ultrapassou a soleira do vertedouro Tulipa durante o evento.</a:t>
            </a:r>
          </a:p>
          <a:p xmlns:a="http://schemas.openxmlformats.org/drawingml/2006/main">
            <a:pPr marL="342900" lvl="0" indent="-342900">
              <a:buFont typeface="Arial"/>
              <a:buChar char="•"/>
            </a:pPr>
            <a:r>
              <a:rPr sz="2300"/>
              <a:t>Os resultados evidenciam a importância das condições iniciais de armazenamento para a resposta hidrológica do reservatório.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AA8BE-7332-42C1-975E-A4FD2CC946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05faeecf14390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18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3F103-584D-4949-A055-E9B871ED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5334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defRPr>
            </a:pPr>
            <a:r>
              <a:rPr sz="3000" b="1">
                <a:solidFill>
                  <a:srgbClr val="10294A"/>
                </a:solidFill>
                <a:latin typeface="Source Sans 3"/>
                <a:ea typeface="Source Sans 3"/>
                <a:cs typeface="Source Sans 3"/>
              </a:rPr>
              <a:t>6. Alcance e limitações dos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9C8D-A9C9-43C2-A55E-35E19804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5716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Representação conceitual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F51C0-3BD0-4446-B95A-6D9777B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200977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As estruturas de descarga incluem uma tomada d’água equivalente, sem calibração hidráulica com dados observados.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5374B-095B-48D0-8FB3-6EB96459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29718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Validação e sensibilidade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8FFA7-4D89-43EE-8AC9-767B46A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34099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Confrontar níveis e vazões com observações, avaliar as condições operacionais e os avisos de discretização dos trechos R1 a R4.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D7F2C-3EC5-4AAA-B210-12C88B75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43719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Efeitos a jusante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94A0F-4202-4CAD-9446-145D6C4F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48101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defRPr>
            </a:pPr>
            <a:r>
              <a:rPr sz="2025" b="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A redução dos picos simulados não quantifica a redução de inundações urbanas. Essa análise depende dos tributários e da propagação hidráulica.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A3124-F40B-46C4-8869-6800DE7A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6334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defPPr>
            <a:lvl1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1pPr>
            <a:lvl2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2pPr>
            <a:lvl3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3pPr>
            <a:lvl4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4pPr>
            <a:lvl5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5pPr>
            <a:lvl6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6pPr>
            <a:lvl7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7pPr>
            <a:lvl8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8pPr>
            <a:lvl9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defRPr>
            </a:pPr>
            <a:r>
              <a:rPr sz="1350" b="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Fonte: dissertação, seções 3.4.2 e 4.6, conclusão e Apêndice B.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EF32B-4E46-4E2A-B760-11323AA55F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bca21082145c7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069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054E33-D7A1-D119-11E9-75B3D55C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C1C096-F043-77FC-8519-6119E57EF3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7. Capítulo 2: objetivos</a:t>
            </a:r>
            <a:endParaRPr sz="3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186096F-A0F0-C670-6A9C-E24A1D44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1495425"/>
            <a:ext cx="10563225" cy="3667125"/>
          </a:xfrm>
          <a:prstGeom xmlns:a="http://schemas.openxmlformats.org/drawingml/2006/main" prst="roundRect">
            <a:avLst>
              <a:gd name="adj" fmla="val 39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F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47CCAB-4536-703C-9EDE-1DF3256F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811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160"/>
              </a:lnSpc>
              <a:buNone/>
            </a:pPr>
            <a:r>
              <a:rPr sz="2400" b="1">
                <a:solidFill>
                  <a:srgbClr val="9A6B12"/>
                </a:solidFill>
                <a:latin typeface="Source Sans 3"/>
                <a:ea typeface="Source Sans 3"/>
                <a:cs typeface="Source Sans 3"/>
              </a:rPr>
              <a:t>Capítulo 2 · proposta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CB4934-570B-C7AA-0732-105CB1C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9982200" cy="2305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Simular o rompimento hipotético da barragem fusível no HEC-RAS e avaliar as consequências</a:t>
            </a:r>
            <a:endParaRPr sz="2400"/>
          </a:p>
          <a:p xmlns:a="http://schemas.openxmlformats.org/drawingml/2006/main">
            <a:pPr marL="196342" indent="-196342" algn="l">
              <a:lnSpc>
                <a:spcPts val="2240"/>
              </a:lnSpc>
              <a:buSzPct val="100000"/>
              <a:buChar char="•"/>
            </a:pPr>
            <a:r>
              <a:rPr sz="2400">
                <a:solidFill>
                  <a:srgbClr val="1B1F24"/>
                </a:solidFill>
                <a:latin typeface="Source Sans 3"/>
                <a:ea typeface="Source Sans 3"/>
                <a:cs typeface="Source Sans 3"/>
              </a:rPr>
              <a:t>Comparar a mancha de inundação com a do rompimento da barragem principal, analisado em trabalhos anteriores</a:t>
            </a:r>
            <a:endParaRPr sz="2400"/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566B1-D14A-41EF-95CE-DE37F8C3C8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048ceaba34262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356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34A000-0D90-46F8-9D3B-E23FC87B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1C0538-37D4-4FF3-8DE7-D5B70A986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768" y="53340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200"/>
            </a:defPPr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  <a:lvl6pPr>
              <a:buNone/>
              <a:defRPr sz="3200"/>
            </a:lvl6pPr>
            <a:lvl7pPr>
              <a:buNone/>
              <a:defRPr sz="3200"/>
            </a:lvl7pPr>
            <a:lvl8pPr>
              <a:buNone/>
              <a:defRPr sz="3200"/>
            </a:lvl8pPr>
            <a:lvl9pPr>
              <a:buNone/>
              <a:defRPr sz="3200"/>
            </a:lvl9pPr>
          </a:lstStyle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7. Capítulo 2: cronograma</a:t>
            </a:r>
            <a:endParaRPr sz="3200"/>
          </a:p>
        </p:txBody>
      </p:sp>
      <p:pic>
        <p:nvPicPr>
          <p:cNvPr id="11" name="Imagem 10">
            <a:extLst xmlns:a="http://schemas.openxmlformats.org/drawingml/2006/main">
              <a:ext uri="{FF2B5EF4-FFF2-40B4-BE49-F238E27FC236}">
                <a16:creationId xmlns:a16="http://schemas.microsoft.com/office/drawing/2014/main" id="{13797526-EFE0-443E-BDCB-09DFF77A8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25b4ebd9148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125" y="1257300"/>
            <a:ext cx="6381750" cy="5375529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06921-2317-4762-A3F2-A58163562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d1670bb844180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664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F24957-920D-4850-B60C-9891A363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4" y="2484121"/>
            <a:ext cx="10832338" cy="1305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210566" indent="-210566" algn="l">
              <a:lnSpc>
                <a:spcPts val="2520"/>
              </a:lnSpc>
              <a:buSzPct val="100000"/>
              <a:buChar char="•"/>
            </a:pPr>
            <a:endParaRPr sz="1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234C656-0329-4A3E-A0E8-0BFC009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8" y="2762250"/>
            <a:ext cx="10563225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10294A"/>
                </a:solidFill>
              </a:defRPr>
            </a:defPPr>
            <a:lvl1pPr>
              <a:buNone/>
              <a:defRPr>
                <a:solidFill>
                  <a:srgbClr val="10294A"/>
                </a:solidFill>
              </a:defRPr>
            </a:lvl1pPr>
            <a:lvl2pPr>
              <a:buNone/>
              <a:defRPr>
                <a:solidFill>
                  <a:srgbClr val="10294A"/>
                </a:solidFill>
              </a:defRPr>
            </a:lvl2pPr>
            <a:lvl3pPr>
              <a:buNone/>
              <a:defRPr>
                <a:solidFill>
                  <a:srgbClr val="10294A"/>
                </a:solidFill>
              </a:defRPr>
            </a:lvl3pPr>
            <a:lvl4pPr>
              <a:buNone/>
              <a:defRPr>
                <a:solidFill>
                  <a:srgbClr val="10294A"/>
                </a:solidFill>
              </a:defRPr>
            </a:lvl4pPr>
            <a:lvl5pPr>
              <a:buNone/>
              <a:defRPr>
                <a:solidFill>
                  <a:srgbClr val="10294A"/>
                </a:solidFill>
              </a:defRPr>
            </a:lvl5pPr>
            <a:lvl6pPr>
              <a:buNone/>
              <a:defRPr>
                <a:solidFill>
                  <a:srgbClr val="10294A"/>
                </a:solidFill>
              </a:defRPr>
            </a:lvl6pPr>
            <a:lvl7pPr>
              <a:buNone/>
              <a:defRPr>
                <a:solidFill>
                  <a:srgbClr val="10294A"/>
                </a:solidFill>
              </a:defRPr>
            </a:lvl7pPr>
            <a:lvl8pPr>
              <a:buNone/>
              <a:defRPr>
                <a:solidFill>
                  <a:srgbClr val="10294A"/>
                </a:solidFill>
              </a:defRPr>
            </a:lvl8pPr>
            <a:lvl9pPr>
              <a:buNone/>
              <a:defRPr>
                <a:solidFill>
                  <a:srgbClr val="10294A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6720"/>
              </a:lnSpc>
              <a:buNone/>
            </a:pPr>
            <a:r>
              <a:rPr sz="4800" b="1">
                <a:solidFill>
                  <a:srgbClr val="10294A"/>
                </a:solidFill>
                <a:latin typeface="Source Serif 4"/>
                <a:ea typeface="Source Serif 4"/>
                <a:cs typeface="Source Serif 4"/>
              </a:rPr>
              <a:t>Obrigada!</a:t>
            </a:r>
            <a:endParaRPr sz="4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B9EAE4-DFA9-4C0A-9308-EBF70D37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42"/>
            <a:ext cx="3075813" cy="23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5E6670"/>
                </a:solidFill>
              </a:defRPr>
            </a:defPPr>
            <a:lvl1pPr>
              <a:buNone/>
              <a:defRPr>
                <a:solidFill>
                  <a:srgbClr val="5E6670"/>
                </a:solidFill>
              </a:defRPr>
            </a:lvl1pPr>
            <a:lvl2pPr>
              <a:buNone/>
              <a:defRPr>
                <a:solidFill>
                  <a:srgbClr val="5E6670"/>
                </a:solidFill>
              </a:defRPr>
            </a:lvl2pPr>
            <a:lvl3pPr>
              <a:buNone/>
              <a:defRPr>
                <a:solidFill>
                  <a:srgbClr val="5E6670"/>
                </a:solidFill>
              </a:defRPr>
            </a:lvl3pPr>
            <a:lvl4pPr>
              <a:buNone/>
              <a:defRPr>
                <a:solidFill>
                  <a:srgbClr val="5E6670"/>
                </a:solidFill>
              </a:defRPr>
            </a:lvl4pPr>
            <a:lvl5pPr>
              <a:buNone/>
              <a:defRPr>
                <a:solidFill>
                  <a:srgbClr val="5E6670"/>
                </a:solidFill>
              </a:defRPr>
            </a:lvl5pPr>
            <a:lvl6pPr>
              <a:buNone/>
              <a:defRPr>
                <a:solidFill>
                  <a:srgbClr val="5E6670"/>
                </a:solidFill>
              </a:defRPr>
            </a:lvl6pPr>
            <a:lvl7pPr>
              <a:buNone/>
              <a:defRPr>
                <a:solidFill>
                  <a:srgbClr val="5E6670"/>
                </a:solidFill>
              </a:defRPr>
            </a:lvl7pPr>
            <a:lvl8pPr>
              <a:buNone/>
              <a:defRPr>
                <a:solidFill>
                  <a:srgbClr val="5E6670"/>
                </a:solidFill>
              </a:defRPr>
            </a:lvl8pPr>
            <a:lvl9pPr>
              <a:buNone/>
              <a:defRPr>
                <a:solidFill>
                  <a:srgbClr val="5E6670"/>
                </a:solidFill>
              </a:defRPr>
            </a:lvl9pPr>
          </a:lstStyle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E6670"/>
                </a:solidFill>
                <a:latin typeface="Source Sans 3"/>
                <a:ea typeface="Source Sans 3"/>
                <a:cs typeface="Source Sans 3"/>
              </a:rPr>
              <a:t>Mariana Martins Marcelino · PPGEC/UFJF</a:t>
            </a:r>
            <a:endParaRPr sz="1200"/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303D8-5E9A-4027-8FBC-81E231B21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bcb7852c74f88"/>
          <a:stretch xmlns:a="http://schemas.openxmlformats.org/drawingml/2006/main"/>
        </p:blipFill>
        <p:spPr>
          <a:xfrm xmlns:a="http://schemas.openxmlformats.org/drawingml/2006/main">
            <a:off x="10763250" y="0"/>
            <a:ext cx="906875" cy="10135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35228"/>
      </p:ext>
    </p:extLst>
  </p:cSld>
</p:sld>
</file>

<file path=ppt/theme/theme1.xml><?xml version="1.0" encoding="utf-8"?>
<a:theme xmlns:a="http://schemas.openxmlformats.org/drawingml/2006/main" name="Qualificação – Modelagem hidrológica da barragem Chapéu d’Uvas">
  <a:themeElements>
    <a:clrScheme name="Qualificação – Modelagem hidrológica da barragem Chapéu d’Uvas">
      <a:dk1>
        <a:srgbClr val="1B1F24"/>
      </a:dk1>
      <a:lt1>
        <a:srgbClr val="F8F6F0"/>
      </a:lt1>
      <a:dk2>
        <a:srgbClr val="525557"/>
      </a:dk2>
      <a:lt2>
        <a:srgbClr val="E2E1DC"/>
      </a:lt2>
      <a:accent1>
        <a:srgbClr val="10294A"/>
      </a:accent1>
      <a:accent2>
        <a:srgbClr val="9A6B12"/>
      </a:accent2>
      <a:accent3>
        <a:srgbClr val="E3B65A"/>
      </a:accent3>
      <a:accent4>
        <a:srgbClr val="C28F2C"/>
      </a:accent4>
      <a:accent5>
        <a:srgbClr val="D5D9DF"/>
      </a:accent5>
      <a:accent6>
        <a:srgbClr val="5E6670"/>
      </a:accent6>
      <a:hlink>
        <a:srgbClr val="0563C1"/>
      </a:hlink>
      <a:folHlink>
        <a:srgbClr val="954F72"/>
      </a:folHlink>
    </a:clrScheme>
    <a:fontScheme name="Qualificação – Modelagem hidrológica da barragem Chapéu d’Uvas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Qualificação – Modelagem hidrológica da barragem Chapéu d’Uv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2026-10-21T19:34:28.4370000Z</dcterms:created>
  <dcterms:modified xsi:type="dcterms:W3CDTF">2026-10-21T19:34:28.4370000Z</dcterms:modified>
</coreProperties>
</file>